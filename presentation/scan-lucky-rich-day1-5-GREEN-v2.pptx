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4E3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64E3B"/>
                </a:solidFill>
                <a:latin typeface="Calibri"/>
              </a:rPr>
              <a:t>แนวโน้ม: สิทธิ์ vs สแกนสำเร็จ 5 วัน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สิทธิ์รวม (calc)</c:v>
                </c:pt>
              </c:strCache>
            </c:strRef>
          </c:tx>
          <c:spPr>
            <a:solidFill>
              <a:srgbClr val="059669"/>
            </a:solidFill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64E3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</c:v>
                  </c:pt>
                  <c:pt idx="1">
                    <c:v>17</c:v>
                  </c:pt>
                  <c:pt idx="2">
                    <c:v>18</c:v>
                  </c:pt>
                  <c:pt idx="3">
                    <c:v>19</c:v>
                  </c:pt>
                  <c:pt idx="4">
                    <c:v>20</c:v>
                  </c:pt>
                  <c:pt idx="5">
                    <c:v>21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9308</c:v>
                </c:pt>
                <c:pt idx="1">
                  <c:v>11585</c:v>
                </c:pt>
                <c:pt idx="2">
                  <c:v>8615</c:v>
                </c:pt>
                <c:pt idx="3">
                  <c:v>7832</c:v>
                </c:pt>
                <c:pt idx="4">
                  <c:v>10335</c:v>
                </c:pt>
                <c:pt idx="5">
                  <c:v>8536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สแกนสำเร็จ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64E3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16</c:v>
                  </c:pt>
                  <c:pt idx="1">
                    <c:v>17</c:v>
                  </c:pt>
                  <c:pt idx="2">
                    <c:v>18</c:v>
                  </c:pt>
                  <c:pt idx="3">
                    <c:v>19</c:v>
                  </c:pt>
                  <c:pt idx="4">
                    <c:v>20</c:v>
                  </c:pt>
                  <c:pt idx="5">
                    <c:v>21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7160</c:v>
                </c:pt>
                <c:pt idx="1">
                  <c:v>8713</c:v>
                </c:pt>
                <c:pt idx="2">
                  <c:v>6459</c:v>
                </c:pt>
                <c:pt idx="3">
                  <c:v>5707</c:v>
                </c:pt>
                <c:pt idx="4">
                  <c:v>7669</c:v>
                </c:pt>
                <c:pt idx="5">
                  <c:v>6590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64E3B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4E3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64E3B"/>
                </a:solidFill>
                <a:latin typeface="Calibri"/>
              </a:rPr>
              <a:t>การกระจายตัว: สแกนต่อคน (sum 5 วัน)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จำนวนผู้ใช้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64E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478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สแกน</c:v>
                  </c:pt>
                  <c:pt idx="1">
                    <c:v>2-5 สแกน</c:v>
                  </c:pt>
                  <c:pt idx="2">
                    <c:v>6-10 สแกน</c:v>
                  </c:pt>
                  <c:pt idx="3">
                    <c:v>10+ สแกน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6221</c:v>
                </c:pt>
                <c:pt idx="1">
                  <c:v>5084</c:v>
                </c:pt>
                <c:pt idx="2">
                  <c:v>925</c:v>
                </c:pt>
                <c:pt idx="3">
                  <c:v>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64E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4E3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64E3B"/>
                </a:solidFill>
                <a:latin typeface="Calibri"/>
              </a:rPr>
              <a:t>สมาชิกใหม่ vs เก่า (5 วัน)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สมาชิกใหม่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16</c:v>
                  </c:pt>
                  <c:pt idx="1">
                    <c:v>17</c:v>
                  </c:pt>
                  <c:pt idx="2">
                    <c:v>18</c:v>
                  </c:pt>
                  <c:pt idx="3">
                    <c:v>19</c:v>
                  </c:pt>
                  <c:pt idx="4">
                    <c:v>20</c:v>
                  </c:pt>
                  <c:pt idx="5">
                    <c:v>21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440</c:v>
                </c:pt>
                <c:pt idx="1">
                  <c:v>460</c:v>
                </c:pt>
                <c:pt idx="2">
                  <c:v>480</c:v>
                </c:pt>
                <c:pt idx="3">
                  <c:v>308</c:v>
                </c:pt>
                <c:pt idx="4">
                  <c:v>413</c:v>
                </c:pt>
                <c:pt idx="5">
                  <c:v>403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สมาชิกเก่า</c:v>
                </c:pt>
              </c:strCache>
            </c:strRef>
          </c:tx>
          <c:spPr>
            <a:solidFill>
              <a:srgbClr val="0478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16</c:v>
                  </c:pt>
                  <c:pt idx="1">
                    <c:v>17</c:v>
                  </c:pt>
                  <c:pt idx="2">
                    <c:v>18</c:v>
                  </c:pt>
                  <c:pt idx="3">
                    <c:v>19</c:v>
                  </c:pt>
                  <c:pt idx="4">
                    <c:v>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2305</c:v>
                </c:pt>
                <c:pt idx="1">
                  <c:v>2617</c:v>
                </c:pt>
                <c:pt idx="2">
                  <c:v>2153</c:v>
                </c:pt>
                <c:pt idx="3">
                  <c:v>1702</c:v>
                </c:pt>
                <c:pt idx="4">
                  <c:v>2316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64E3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64E3B"/>
                </a:solidFill>
                <a:latin typeface="Calibri"/>
              </a:rPr>
              <a:t>ประมาณการสิทธิ์ถึง 18 ธ.ค. — 3 scenarios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สิทธิ์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64E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
(decay 30%)</c:v>
                  </c:pt>
                  <c:pt idx="1">
                    <c:v>Mid
(decay 15%)</c:v>
                  </c:pt>
                  <c:pt idx="2">
                    <c:v>Linear
(velocity คงเดิม)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1400000</c:v>
                </c:pt>
                <c:pt idx="1">
                  <c:v>2000000</c:v>
                </c:pt>
                <c:pt idx="2">
                  <c:v>2500000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64E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64E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64E3B"/>
                </a:solidFill>
                <a:latin typeface="Calibri"/>
              </a:rPr>
              <a:t>การกระจายตัวของสแกนรายชั่วโมง (5 วันรวม)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จำนวนสแกน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64E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00-06</c:v>
                  </c:pt>
                  <c:pt idx="1">
                    <c:v>07-12</c:v>
                  </c:pt>
                  <c:pt idx="2">
                    <c:v>13-18</c:v>
                  </c:pt>
                  <c:pt idx="3">
                    <c:v>19-22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3211</c:v>
                </c:pt>
                <c:pt idx="1">
                  <c:v>6514</c:v>
                </c:pt>
                <c:pt idx="2">
                  <c:v>6594</c:v>
                </c:pt>
                <c:pt idx="3">
                  <c:v>9555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64E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REPORT • DAY 1-6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Jula's Herb × ไทยรัฐ TV  •  16-21 พ.ค. 2026  (วันที่ 1-6 ของแคมเปญ 7 เดือน)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603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35,711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สแกนสำเร็จ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scans 5 วัน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5603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อัตราสแกนซ้ำ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 25-30%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737360"/>
            <a:ext cx="256032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807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สิทธิ์ขาดจาก 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ต้องแก้ก่อน prize draw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บรรทัดสุดท้าย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สูงเกินอุตสาหกรรม 2 เท่า + Acquisition โต +11%/วัน ก่อน outage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แต่เจอ DB bug ขาดสิทธิ์ 11K+ ใบ + พบ fraud pattern Day 19-20 — ต้องแก้ก่อน prize draw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Day 1-5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สรุปภาพรวม 5 วันแรก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548640"/>
            <a:ext cx="1828800" cy="274320"/>
          </a:xfrm>
          <a:prstGeom prst="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16-20 พ.ค.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05840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สแกนสำเร็จ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35,711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7,142/วัน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00584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สิทธิ์ตามสเปก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7063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47,127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7063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ขาด −11,476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0584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สมาชิกใหม่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091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1091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วัน • avg 420/วัน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1005840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005840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1097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Uptime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51192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51192" y="18288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ล่ม 6 ชม.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194560"/>
            <a:ext cx="4114800" cy="265176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จุดเด่น (Wins)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2606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Engagement สูง 2× industry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Repeat rate 51% (avg ผู้ใช้สแกน 2.9 ครั้ง)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Acquisition trending up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สมาชิกใหม่ 384 → 414 → 428 (+11%/วัน Day 1-3)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Activation funnel ดี 85%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สมัครใหม่ 85% สแกนภายในวัน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Recovery จาก outage เร็ว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Day 20 (พุธ) +13.3% vs มี.ค. — ฟื้นตัวเต็มที่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194560"/>
            <a:ext cx="4114800" cy="26517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ที่ต้องระวัง (Concerns)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2606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DB Bug ขาดสิทธิ์ −11,476 ใบ (−24%)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SKU 40g/70g ตามสเปก 2-5 สิทธิ์ แต่ DB ให้ 1:1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2 users สแกน 201 ครั้งเท่ากันเป๊ะ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Day 20 — สงสัย bot/script/coordinated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สระบุรี cluster 17.8 scans/user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 users สแกน 356 ครั้ง — fraud cluster
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Outage Day 19 = 6 ชม.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Cloudflare tunnel? log lost — root cause TBD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 5 วันแรก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Performance 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548640"/>
            <a:ext cx="1828800" cy="274320"/>
          </a:xfrm>
          <a:prstGeom prst="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16-20 พ.ค.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00584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05840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สแกนสำเร็จ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42,298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วัน · avg 7,050/วัน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100584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1005840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063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สิทธิ์รวม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7063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56,211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7063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× perScan (สเปก)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00584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ผู้สแกน/วัน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1091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1091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· peak 2,968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86600" y="1005840"/>
            <a:ext cx="1691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86600" y="1005840"/>
            <a:ext cx="54864" cy="10972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51192" y="1097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51192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51192" y="18288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ล่ม 2 ครั้ง = 8 ชม.</a:t>
            </a:r>
            <a:endParaRPr lang="en-US" sz="9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365760" y="2286000"/>
          <a:ext cx="5943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6400800" y="2286000"/>
            <a:ext cx="237744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3796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Pattern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37960" y="269748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Weekend peak 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+21.6%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(เสาร์→อาทิตย์)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จันทร์ตก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−26%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จาก peak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ล่ม 2 ครั้ง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ชม.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Day19 6h + Day21 2h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Day 20 ฟื้น +34%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ตารางสถิติสแกน/สิทธิ์รายวัน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ตารางรายวัน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548640"/>
            <a:ext cx="1828800" cy="274320"/>
          </a:xfrm>
          <a:prstGeom prst="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วัน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868680"/>
                <a:gridCol w="1005840"/>
                <a:gridCol w="960120"/>
                <a:gridCol w="960120"/>
                <a:gridCol w="868680"/>
                <a:gridCol w="868680"/>
                <a:gridCol w="868680"/>
                <a:gridCol w="1417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วันที่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สำเร็จ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⛔ ซ้ำตัวเอง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⛔ ซ้ำคนอื่น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⛔ ไม่พบ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รวม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สำเร็จ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🎟️ สิทธิ์ (สเปก)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พ.ค.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เสาร์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พ.ค.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อาทิตย์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พ.ค.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จันทร์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พ.ค.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อังคาร 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พ.ค.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พุธ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พ.ค.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พฤหัส 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รวม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วัน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42,298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56,211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3794760"/>
            <a:ext cx="84124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outage 6 ชม. (02:49-09:00) + Day 21 outage 2 ชม. (03:00-04:59)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ครั้งใน 3 วัน · ช่วงเช้ามืดทั้งคู่ ⚠ น่าจะเป็น cron/maintenance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 (สเปก) − DB = ขาดไป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13,913 ใบ (−24.8%)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จาก bug 1:1 → ดู Slide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Critical: DB Ticket Bug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DB Bug: ขาดสิทธิ์ 11.5K ใบ (−24%)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114800" cy="210312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ตามสเปก Excel (ที่ควรจะเป็น)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3931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L3-40G  ดีดีครีมแตงโม 40 กรัม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5 สิทธิ์/scan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D3-70G  ยาสีฟัน 70 กรัม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2 สิทธิ์/scan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C4-35G  เซรั่มขิงดำ 35 กรัม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4 สิทธิ์/scan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L7-30G  โดสส้มแดง 30 กรัม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5 สิทธิ์/scan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...~30 SKUs มี 2-5 สิทธิ์/scan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21031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DB ปัจจุบัน (bug)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931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L3-40G  ดีดีครีมแตงโม 40 กรัม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 สิทธิ์/scan ❌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D3-70G  ยาสีฟัน 70 กรัม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 สิทธิ์/scan ❌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C4-35G  เซรั่มขิงดำ 35 กรัม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 สิทธิ์/scan ❌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L7-30G  โดสส้มแดง 30 กรัม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 สิทธิ์/scan ❌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ทุก SKU ให้ 1:1 (1 scan = 1 สิทธิ์) **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Impact (6 วันแรก)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ปัจจุบัน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42,298 ใบ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3611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ตามสเปก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56,211 ใบ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0" y="3611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ขาดไป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−13,913 ใบ  (−24.8%)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ACTION: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 DB ต้องแก้ก่อน prize draw (18 ธ.ค.) — มิฉะนั้นลูกค้าได้สิทธิ์น้อยกว่าที่ POSM/โฆษณาประกาศ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Apples-to-Apples — เทียบ DoW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เทียบ DoW — Apples-to-Apples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280160"/>
                <a:gridCol w="1280160"/>
                <a:gridCol w="1463040"/>
                <a:gridCol w="1234440"/>
                <a:gridCol w="123444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มี.ค.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เม.ย.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พ.ค. 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มี.ค.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เม.ย.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หมายเหตุ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จันทร์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6,851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(16/3)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7,740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(20/4)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6,459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(18/5)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-5.7%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-16.5%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อังคาร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7,492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(17/3)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5,707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(19/5)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-23.8%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🚨 outage 6 ชม.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พุธ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7,112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(18/3)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7,666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(20/5)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+7.8%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พฤหัส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6,634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(19/3)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6,726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(16/4)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ไม่พอ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ศุกร์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6,769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(20/3)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7,208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(17/4)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ไม่พอ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เสาร์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8,567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(18/4)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7,163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(16/5)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-16.4%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อาทิตย์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9,254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(19/4)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8,713  </a:t>
                      </a:r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(17/5)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-5.8%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⚖️ 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อังคาร พ.ค. −23.8% vs มี.ค.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สาเหตุหลักจาก outage 6 ชม. (Day 19) ไม่ใช่ campaign performance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เสาร์/อาทิตย์ พ.ค. &lt; เม.ย.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เพราะ เม.ย. มีสงกรานต์-postpone → traffic peak weekend หลังสงกรานต์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พุธ พ.ค. +7.8% vs มี.ค.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campaign lift จริงที่ apples-to-apples (ทั้ง 2 ไม่มี outage/holiday bias)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Win — 51% Repeat 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Engagement สูง 2× industry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05840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อัตราสแกนซ้ำ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 25-30%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100584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00584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ค่ามัธยฐานช่วง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7063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นาที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7063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scan behavior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05840"/>
            <a:ext cx="54864" cy="10972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กลับ &lt; 1 ชม.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091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1091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users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1005840"/>
            <a:ext cx="1691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005840"/>
            <a:ext cx="54864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1097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สแกน/คน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51192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51192" y="18288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5 days</a:t>
            </a:r>
            <a:endParaRPr lang="en-US" sz="9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228600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6035040" y="2286000"/>
            <a:ext cx="274320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7220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ความหมาย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72200" y="269748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ครึ่งหนึ่งของคน 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กลับมาสแกนซ้ำ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(ไม่ใช่ครั้งเดียวจบ)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0.8 นาที = 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สแกนหลายซองในครั้งเดียว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(batch)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73% กลับมาภายใน 1 ชม. = 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คนติดเล่น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1,343 คน scan 6+ ครั้ง = 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users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+ Geographic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สมาชิกใหม่ + ภูมิศาสตร์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05840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สมาชิกใหม่รวม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วัน • avg 417/วัน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00584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Activation rate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7063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7063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สมัครแล้วสแกน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05840"/>
            <a:ext cx="54864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สมาชิกสะสมระบบ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091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835K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1091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1005840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005840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1097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First-time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51192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51192" y="18288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 newest cohort</a:t>
            </a:r>
            <a:endParaRPr lang="en-US" sz="9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2194560"/>
          <a:ext cx="48463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194560"/>
          <a:ext cx="338328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371600"/>
                <a:gridCol w="77724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จังหวัด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Avg/user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กรุงเทพ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สมุทรปราการ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สระบุรี 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🚨 fraud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เชียงใหม่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ชลบุรี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นครราชสีมา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สงขลา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นนทบุรี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7"/>
          <p:cNvSpPr/>
          <p:nvPr/>
        </p:nvSpPr>
        <p:spPr>
          <a:xfrm>
            <a:off x="365760" y="457200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</a:t>
            </a:r>
            <a:pPr indent="0" marL="0">
              <a:buNone/>
            </a:pPr>
            <a:r>
              <a:rPr lang="en-US" sz="10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สระบุรี Day 20</a:t>
            </a:r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20 users สแกน 356 ครั้ง = </a:t>
            </a:r>
            <a:pPr indent="0" marL="0">
              <a:buNone/>
            </a:pPr>
            <a:r>
              <a:rPr lang="en-US" sz="10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 ครั้ง/คน</a:t>
            </a:r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(vs avg 2.9) — fraud cluster ต้อง investigate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+ Heavy 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Segmentation + Fraud Audit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4114800" cy="37033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RFM Segmentation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ลูกค้าสะสมทั้งระบบ 8,355 คน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691640"/>
            <a:ext cx="7315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737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19293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สแกนล่าสุด + ถี่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1746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1965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24028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240280"/>
            <a:ext cx="73152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24780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ปานกลาง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2295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25146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7889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78892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834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30266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ถี่แต่หายไป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3063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33756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337560"/>
            <a:ext cx="7315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383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35753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หายไปนาน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3392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0" y="3611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8862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886200"/>
            <a:ext cx="73152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931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41239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ใหม่/ไม่แอคทีฟ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39410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200400" y="41605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960120"/>
            <a:ext cx="4114800" cy="37033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Heavy Users — Day 20 (Top 5)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0060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พบ anomaly — 2 ราย scan 201 ครั้งเท่ากัน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69164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51560"/>
                <a:gridCol w="640080"/>
                <a:gridCol w="50292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จังหวัด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a5b2d2d6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สมุทรปราการ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🚨 BOT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bbe6c398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สระบุรี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🚨 BOT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59820080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เพชรบุรี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HEAVY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9e8ae769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สระบุรี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HEAVY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cdd58ec8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พิษณุโลก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" name="Text 43"/>
          <p:cNvSpPr/>
          <p:nvPr/>
        </p:nvSpPr>
        <p:spPr>
          <a:xfrm>
            <a:off x="4800600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Champion+Loyal 32% = VIP base •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2 users @ 201 ก่อน prize draw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SKU + Concentration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Boss SKU + Pareto Risk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572000" cy="36576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05840"/>
            <a:ext cx="137160" cy="3657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BOSS SKU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ดีดีครีมแตงโม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L3-8G  •  ซอง 8 กรัม  •  49 บาท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1945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14,148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สิทธิ์รวม 6 วัน  •  25.2% ของแคมเปญ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14,148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630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 (perScan ×1)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3337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6,089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80360" y="3630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(sum)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4224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สิทธิ์/วัน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036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80360" y="4224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multiplier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การกระจุกตัว (Pareto)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 (L3-8G)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1737360"/>
            <a:ext cx="3657600" cy="2286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1737360"/>
            <a:ext cx="914400" cy="228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737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SKU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2377440"/>
            <a:ext cx="3657600" cy="2286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2377440"/>
            <a:ext cx="1609344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2377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SKU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3017520"/>
            <a:ext cx="3657600" cy="2286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0640" y="3017520"/>
            <a:ext cx="2633472" cy="2286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3017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20640" y="3520440"/>
            <a:ext cx="3657600" cy="11430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Concentration Risk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57800" y="3931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L3-8G stock-out จะกระทบ 25.2% ของแคมเปญ — เตรียม backup supply + alert เมื่อ inv &lt; 7 วัน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SKU (6-day cumulative)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10 SKU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548640"/>
            <a:ext cx="1828800" cy="274320"/>
          </a:xfrm>
          <a:prstGeom prst="rect">
            <a:avLst>
              <a:gd name="adj" fmla="val 50000"/>
            </a:avLst>
          </a:prstGeom>
          <a:solidFill>
            <a:srgbClr val="D1FAE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548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 6 วัน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868680"/>
                <a:gridCol w="2606040"/>
                <a:gridCol w="777240"/>
                <a:gridCol w="914400"/>
                <a:gridCol w="777240"/>
                <a:gridCol w="82296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ชื่อสินค้า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สิทธิ์/scan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สิทธิ์รวม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L3-8G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ดีดีครีมแตงโม 8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▇▇▇▇▇▇▇▇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L3-40G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ดีดีครีมแตงโม 40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▇▇▇▇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L4-8G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เซรั่มลำไย 8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▇▇▇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L6-8G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เซรั่มแครอท 8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L10-7G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กันแดด 3D ออร่า 7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L4-40G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เซรั่มลำไย 40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L6-40G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เซรั่มแครอท 40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L7-6G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โดสส้มแดง 6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L13-10G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ครีมกุหลาบน้ำเงิน 10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L10-30G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กันแดด 3D ออร่า 30 กรัม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รวม </a:t>
            </a:r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40,351 สิทธิ์ = 71.8%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ของแคมเปญ — Pareto • Boss </a:t>
            </a:r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L3-8G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25.2% • Top 3 รวม 44% • 4 ตัวพรีเมียม 40g/30g เด้งเข้า Top 10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Health: Dead SKU + Tier Mix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SKU Portfolio Health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114800" cy="3657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Tier Mix — สัดส่วนสิทธิ์ (ตามสเปก)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463040"/>
            <a:ext cx="2565441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63040"/>
            <a:ext cx="25654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8361" y="1463040"/>
            <a:ext cx="130576" cy="365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8937" y="1463040"/>
            <a:ext cx="1144463" cy="36576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8937" y="1463040"/>
            <a:ext cx="11444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057400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057400"/>
            <a:ext cx="73152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103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สิทธิ์/scan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22768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SKUs · 37,547 ใบ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2560320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560320"/>
            <a:ext cx="73152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6060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สิทธิ์/scan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27797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SKUs · 1,910 ใบ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3063240"/>
            <a:ext cx="3840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63240"/>
            <a:ext cx="73152" cy="41148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1089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สิทธิ์/scan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32826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SKUs · 16,754 ใบ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29.8%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Premium tier (3+ สิทธิ์) ครอง 30% — push bundle promo เพื่อเพิ่ม share อีก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1005840"/>
            <a:ext cx="4114800" cy="17373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Dead SKU (19 ตัว)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1371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20.4% ของ portfolio — ไม่มีคนสแกนเลยตลอดแคมเปญ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16916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เจลดาวเรือง JH701-8G/40G + JHK1-40G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เจลมะรุม JH702-8G/40G + JHK2-40G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อีอีคูชั่น JHQ1/Q2-30G + L8A/B-30G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Action: audit shelf placement + QR visibility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88036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880360"/>
            <a:ext cx="54864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971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ทั้งหมด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28032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828032" y="3703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active / 19 dead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12280" y="288036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12280" y="2880360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29718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76872" y="31821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76872" y="37033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74/93 SKUs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931920"/>
            <a:ext cx="4114800" cy="7315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0233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Tier Upsell Bundle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0060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ดัน customer ขึ้น Tier 2/3+ ผ่าน "ซื้อซองได้ 1 สิทธิ์ • ซื้อหลอด/เซ็ทได้ 2-5 สิทธิ์"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FORECAST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Pool Forecast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Forecast → Prize Pool ที่ต้องเตรียม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05840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สิทธิ์ Day 1-5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47K+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ตามสเปก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00584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เฉลี่ย/วัน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7063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7063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สิทธิ์/วัน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2103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05840"/>
            <a:ext cx="54864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เหลือ (วัน)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0912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10912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ถึง 18 ธ.ค.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1005840"/>
            <a:ext cx="1691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100584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51192" y="10972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Recommended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51192" y="13075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51192" y="18288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budget</a:t>
            </a:r>
            <a:endParaRPr lang="en-US" sz="9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228600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6035040" y="2286000"/>
            <a:ext cx="2743200" cy="2377440"/>
          </a:xfrm>
          <a:prstGeom prst="rect">
            <a:avLst/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7220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คำแนะนำ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722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 prize pool รับ ~2M (Mid case)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172200" y="31546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Buffer +500K (Linear)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Trim -600K (Conservative)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ปรับ scenario ทุก 2 สัปดาห์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หมายเหตุ: 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ตัวเลขจะแม่นขึ้นเมื่อ data ครบ 2-3 สัปดาห์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ที่ต้องเฝ้าระวัง + คุณภาพระบบ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Watch Points + System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ที่ต้องเฝ้าระวัง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429768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81328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Bug ขาดสิทธิ์ 11.5K ใบ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−24% จาก spec — ต้องแก้ก่อน 18 ธ.ค.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03120"/>
            <a:ext cx="429768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258568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Fraud: 2 users @ 201 scans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 a5b2/bbe6 — bot/script suspect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29768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35808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สระบุรี cluster 17.8/user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users / 356 scans — fraud cluster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297680" cy="685800"/>
          </a:xfrm>
          <a:prstGeom prst="rect">
            <a:avLst/>
          </a:prstGeom>
          <a:solidFill>
            <a:srgbClr val="FFFBEB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81304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6 ชม. root cause TBD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2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API/Cloudflare suspect — log lost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คุณภาพ + ความถูกต้อง (5 วัน)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137160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371600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อัตราสำเร็จ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10912" y="16733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010912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avg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1371600"/>
            <a:ext cx="1920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1371600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22592" y="16733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22592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users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560320"/>
          <a:ext cx="3931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ประเภท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จำนวน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สแกนสำเร็จ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35,711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⛔ ซ้ำตัวเอง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⛔ ซ้ำคนอื่น + ไม่พบ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+ Asks + Next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Action Items + ขอ Approve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Action Items (เรียงตามความเร่งด่วน)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5029200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280160"/>
            <a:ext cx="73152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53312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316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08760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 DB ticket bug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1517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priority 0 — ขาด 11.5K ใบ ก่อน prize draw 18 ธ.ค.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828800"/>
            <a:ext cx="73152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1901952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1865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08760" y="1847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fraud Day 20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20665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a5b2/bbe6 @ 201 scans + สระบุรี cluster — ก่อน cutover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5029200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377440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45059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24140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08760" y="2395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SKU stock plan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08760" y="2615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L3-8G drives 33% — backup supply + alert inv &lt; 7 วัน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926080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926080"/>
            <a:ext cx="7315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299923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5840" y="2962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08760" y="2944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broadcast 18:30 peak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08760" y="3163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ก่อน 19-21 น. peak hour (avg 1,800 scans)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474720"/>
            <a:ext cx="5029200" cy="47548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474720"/>
            <a:ext cx="73152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354787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05840" y="3511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508760" y="3493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SKU audit (19 ตัว)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508760" y="37124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 shelf placement + QR visibility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023360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023360"/>
            <a:ext cx="73152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096512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05840" y="4059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50876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VIP/Win-back program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508760" y="4261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1,388 (VIP) + Lost 1,383 (win-back coupon)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77840" y="960120"/>
            <a:ext cx="3200400" cy="246888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77840" y="960120"/>
            <a:ext cx="91440" cy="24688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1005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ASKS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760720" y="1280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สิ่งที่ขอ approve / decision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60720" y="1536192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Sign-off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bug fix P0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investigation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 งบ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broadcast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Decision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L3-8G buffer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pool ~2M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รายสัปดาห์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77840" y="3520440"/>
            <a:ext cx="320040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77840" y="3520440"/>
            <a:ext cx="91440" cy="11430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SUMMARY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760720" y="38221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สูง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(51% — 2× industry)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bug + Fraud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critical risks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 approve 6 action items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— Day 1-6 (16-21 พ.ค. 2026)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Jula's Herb × ไทยรัฐ TV  •  สรุปภาพรวมเสนอเจ้านาย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42,298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สแกนสำเร็จ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วัน · avg 7,050/วัน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19659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2984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56,211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สิทธิ์รวมกิจกรรม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5176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× spec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19659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2984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สมาชิกใหม่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417/วัน · 97% activated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659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2984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17190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เวลาทำงาน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ล่ม 2 ครั้ง = 8 ชม.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331720"/>
            <a:ext cx="4114800" cy="17830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จุดเด่น (Wins)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2670048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Engagement สูง 2× industry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 51%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Acquisition โต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สมาชิกใหม่ 2,504 / activation 97%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True lift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+2.4% vs มี.ค.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(baseline สะอาด)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Recovery จาก outage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 +34.4%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Boss SKU L3-8G ครอง 25.2%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ความนิยมชัด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4114800" cy="1783080"/>
          </a:xfrm>
          <a:prstGeom prst="rect">
            <a:avLst/>
          </a:prstGeom>
          <a:solidFill>
            <a:srgbClr val="FFFFFF">
              <a:alpha val="10000"/>
            </a:srgbClr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ที่ต้องระวัง (Concerns)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00600" y="2670048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DB bug — ขาดสิทธิ์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13,913 ใบ (−24.8%)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Outage 2 ครั้งใน 3 วัน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Day19 (6h) + Day21 (2h)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Fraud cluster สระบุรี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users สแกน 17.8 ครั้ง/คน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2 users สแกน 201 ครั้งเป๊ะ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bot/script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Concentration Risk —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ครอง 72%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3210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519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บรรทัดสุดท้าย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480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วันแรก </a:t>
            </a:r>
            <a:pPr indent="0" marL="0">
              <a:buNone/>
            </a:pPr>
            <a:r>
              <a:rPr lang="en-US" sz="11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ผลสำเร็จเกินคาด </a:t>
            </a:r>
            <a:pPr indent="0" marL="0">
              <a:buNone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engagement ติดตลาด แต่ต้อง </a:t>
            </a:r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เคลียร์ 3 ความเสี่ยง</a:t>
            </a:r>
            <a:pPr indent="0" marL="0">
              <a:buNone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(DB bug · fraud · outage) </a:t>
            </a:r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ก่อนแจกรางวัล</a:t>
            </a:r>
            <a:pPr indent="0" marL="0">
              <a:buNone/>
            </a:pPr>
            <a:r>
              <a:rPr lang="en-US" sz="11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ไม่งั้นภาพลักษณ์เสียแม้ตัวเลขดูดี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Pattern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/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ช่วงเวลา — Peak Hour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005840"/>
          <a:ext cx="8412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Peak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19-22 น.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(9,555 ครั้ง = 37% ของวัน) → LINE broadcast push 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จะดักกลุ่มนี้ได้พอดี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Retention W0-W3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/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Cohort Retention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พ.ค. cohort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(440)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พ.ค. cohort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(460)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พ.ค. cohort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(480)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พ.ค. cohort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(308)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พ.ค. cohort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(413)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retention ~45-48% — น่าตั้ง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2nd-scan bonus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ใน Day 2-3 เพื่อ activate กลุ่ม drop-off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W2+ data ยังไม่พอ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รอเก็บข้อมูลถึง 30 พ.ค. ค่อยมี W2 retention ของ Day 1-2 cohort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4008"/>
            <a:ext cx="1005840" cy="256032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457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× Day Matrix (Top 10)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0" y="45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/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สแกนลุ้นรวย สวยลุ้นล้าน  •  Jula's Herb × ไทยรัฐ TV  •  Day 1-6 (16-21 พ.ค. 2026)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SKU × Day Matrix — Top 10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960120"/>
                <a:gridCol w="960120"/>
                <a:gridCol w="960120"/>
                <a:gridCol w="960120"/>
                <a:gridCol w="96012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per/scan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17/5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รวม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L3-8G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L4-8G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L6-8G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L10-7G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L7-6G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L13-10G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C4-8G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L3-40G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L19-8G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L8B-6G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64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SKU per_scan สูง (×5) = L3-40G ดีดีครีมแตงโม 40g → ตามสเปกควรได้ 5,425 สิทธิ์ vs DB ให้ 1,103 → ขาด 4,322 ใบ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Report Day 1-5 (Green theme)</dc:title>
  <dc:subject>PptxGenJS Presentation</dc:subject>
  <dc:creator>Jula's Herb x ไทยรัฐ TV</dc:creator>
  <cp:lastModifiedBy>Jula's Herb x ไทยรัฐ TV</cp:lastModifiedBy>
  <cp:revision>1</cp:revision>
  <dcterms:created xsi:type="dcterms:W3CDTF">2026-05-25T03:33:15Z</dcterms:created>
  <dcterms:modified xsi:type="dcterms:W3CDTF">2026-05-25T03:33:15Z</dcterms:modified>
</cp:coreProperties>
</file>